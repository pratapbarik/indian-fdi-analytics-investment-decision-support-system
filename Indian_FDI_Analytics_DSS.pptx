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263373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-548640"/>
            <a:ext cx="2926080" cy="2926080"/>
          </a:xfrm>
          <a:prstGeom prst="ellipse">
            <a:avLst/>
          </a:prstGeom>
          <a:solidFill>
            <a:srgbClr val="2E3D85"/>
          </a:solidFill>
          <a:ln/>
        </p:spPr>
      </p:sp>
      <p:sp>
        <p:nvSpPr>
          <p:cNvPr id="5" name="Shape 3"/>
          <p:cNvSpPr/>
          <p:nvPr/>
        </p:nvSpPr>
        <p:spPr>
          <a:xfrm>
            <a:off x="10332720" y="91440"/>
            <a:ext cx="1645920" cy="164592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331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INDIAN FDI ANALYTICS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63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Investment Decision Support System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731520" y="3886200"/>
            <a:ext cx="822960" cy="4572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41148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view of sector-wise FDI trends across India, 2000–01 to 2016–17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Sector-wise • Long-format modelling • Power BI dashboard • Investment Opportunity Score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1234440"/>
            <a:ext cx="12191695" cy="18288"/>
          </a:xfrm>
          <a:prstGeom prst="rect">
            <a:avLst/>
          </a:prstGeom>
          <a:solidFill>
            <a:srgbClr val="E4E7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FDI drives economic development, employment, infrastructure and industrial growth — 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raw, multi-sector, multi-year data is hard to interpret directly.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6035040" cy="2651760"/>
          </a:xfrm>
          <a:prstGeom prst="roundRect">
            <a:avLst>
              <a:gd name="adj" fmla="val 4138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34290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9476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historical FDI data be analyzed to identify important investment trends, high-performing sectors, growth patterns and potential investment opportunities — to support better investment-related decisions?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040880" y="1737360"/>
            <a:ext cx="4572000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223760" y="1847088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9052560" y="173736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years covered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040880" y="3200400"/>
            <a:ext cx="4572000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223760" y="3310128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9052560" y="320040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Sectors analyzed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40880" y="4663440"/>
            <a:ext cx="4572000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223760" y="4773168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2000–17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9052560" y="466344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period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FDI Analytics &amp; Investment DSS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1234440"/>
            <a:ext cx="12191695" cy="18288"/>
          </a:xfrm>
          <a:prstGeom prst="rect">
            <a:avLst/>
          </a:prstGeom>
          <a:solidFill>
            <a:srgbClr val="E4E7F5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00200"/>
            <a:ext cx="2697480" cy="2148840"/>
          </a:xfrm>
          <a:prstGeom prst="roundRect">
            <a:avLst>
              <a:gd name="adj" fmla="val 4255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68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prepare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803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the FDI dataset for analysis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29000" y="1600200"/>
            <a:ext cx="2697480" cy="2148840"/>
          </a:xfrm>
          <a:prstGeom prst="roundRect">
            <a:avLst>
              <a:gd name="adj" fmla="val 4255"/>
            </a:avLst>
          </a:prstGeom>
          <a:solidFill>
            <a:srgbClr val="F4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0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468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28803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FDI trends across financial years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1600200"/>
            <a:ext cx="2697480" cy="2148840"/>
          </a:xfrm>
          <a:prstGeom prst="roundRect">
            <a:avLst>
              <a:gd name="adj" fmla="val 4255"/>
            </a:avLst>
          </a:prstGeom>
          <a:solidFill>
            <a:srgbClr val="F4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537960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379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2468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sectors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28803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sectors receiving the highest FDI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89720" y="1600200"/>
            <a:ext cx="2697480" cy="2148840"/>
          </a:xfrm>
          <a:prstGeom prst="roundRect">
            <a:avLst>
              <a:gd name="adj" fmla="val 4255"/>
            </a:avLst>
          </a:prstGeom>
          <a:solidFill>
            <a:srgbClr val="F4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9418320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1832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418320" y="2468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418320" y="28803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sector contribution to overall FDI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977640"/>
            <a:ext cx="2697480" cy="2148840"/>
          </a:xfrm>
          <a:prstGeom prst="roundRect">
            <a:avLst>
              <a:gd name="adj" fmla="val 4255"/>
            </a:avLst>
          </a:prstGeom>
          <a:solidFill>
            <a:srgbClr val="F4F6FC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4206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4846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" y="52578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year-over-year FDI growth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429000" y="3977640"/>
            <a:ext cx="2697480" cy="2148840"/>
          </a:xfrm>
          <a:prstGeom prst="roundRect">
            <a:avLst>
              <a:gd name="adj" fmla="val 4255"/>
            </a:avLst>
          </a:prstGeom>
          <a:solidFill>
            <a:srgbClr val="F4F6FC"/>
          </a:solidFill>
          <a:ln/>
        </p:spPr>
      </p:sp>
      <p:sp>
        <p:nvSpPr>
          <p:cNvPr id="30" name="Shape 28"/>
          <p:cNvSpPr/>
          <p:nvPr/>
        </p:nvSpPr>
        <p:spPr>
          <a:xfrm>
            <a:off x="3657600" y="4206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65760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3657600" y="4846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3657600" y="52578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sector-level FDI volatility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309360" y="3977640"/>
            <a:ext cx="2697480" cy="2148840"/>
          </a:xfrm>
          <a:prstGeom prst="roundRect">
            <a:avLst>
              <a:gd name="adj" fmla="val 4255"/>
            </a:avLst>
          </a:prstGeom>
          <a:solidFill>
            <a:srgbClr val="F4F6FC"/>
          </a:solidFill>
          <a:ln/>
        </p:spPr>
      </p:sp>
      <p:sp>
        <p:nvSpPr>
          <p:cNvPr id="35" name="Shape 33"/>
          <p:cNvSpPr/>
          <p:nvPr/>
        </p:nvSpPr>
        <p:spPr>
          <a:xfrm>
            <a:off x="6537960" y="4206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3796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6537960" y="4846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537960" y="52578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Investment Opportunity Score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9189720" y="3977640"/>
            <a:ext cx="2697480" cy="2148840"/>
          </a:xfrm>
          <a:prstGeom prst="roundRect">
            <a:avLst>
              <a:gd name="adj" fmla="val 4255"/>
            </a:avLst>
          </a:prstGeom>
          <a:solidFill>
            <a:srgbClr val="F4F6FC"/>
          </a:solidFill>
          <a:ln/>
        </p:spPr>
      </p:sp>
      <p:sp>
        <p:nvSpPr>
          <p:cNvPr id="40" name="Shape 38"/>
          <p:cNvSpPr/>
          <p:nvPr/>
        </p:nvSpPr>
        <p:spPr>
          <a:xfrm>
            <a:off x="9418320" y="4206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41832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000" dirty="0"/>
          </a:p>
        </p:txBody>
      </p:sp>
      <p:sp>
        <p:nvSpPr>
          <p:cNvPr id="42" name="Text 40"/>
          <p:cNvSpPr txBox="1"/>
          <p:nvPr/>
        </p:nvSpPr>
        <p:spPr>
          <a:xfrm>
            <a:off x="9418320" y="4846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9418320" y="52578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interactive Power BI dashboard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FDI Analytics &amp; Investment DSS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Description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1234440"/>
            <a:ext cx="12191695" cy="18288"/>
          </a:xfrm>
          <a:prstGeom prst="rect">
            <a:avLst/>
          </a:prstGeom>
          <a:solidFill>
            <a:srgbClr val="E4E7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Sector-wise FDI information for India, covering financial years 2000–01 through 2016–17, originally supplied in wide format with one column per financial year.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7432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20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60520" y="260604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34840" y="27432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3520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years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0" y="260604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46720" y="27432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Wide → Long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0" y="3520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format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572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format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937760"/>
            <a:ext cx="493776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 w="12700">
            <a:solidFill>
              <a:srgbClr val="D6DB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52578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Sector | 2000-01 | 2001-02 | 2002-03 | ...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0" y="5349240"/>
            <a:ext cx="640080" cy="457200"/>
          </a:xfrm>
          <a:prstGeom prst="rightArrow">
            <a:avLst/>
          </a:prstGeom>
          <a:solidFill>
            <a:srgbClr val="C9A24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92240" y="4572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format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92240" y="493776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 w="12700">
            <a:solidFill>
              <a:srgbClr val="D6DB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20840" y="52578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Sector | Financial Year | FDI | Year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FDI Analytics &amp; Investment DSS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1234440"/>
            <a:ext cx="12191695" cy="18288"/>
          </a:xfrm>
          <a:prstGeom prst="rect">
            <a:avLst/>
          </a:prstGeom>
          <a:solidFill>
            <a:srgbClr val="E4E7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was inspected and cleaned before analysis: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F4F6F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220827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2208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0116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0" y="2011680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F4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4279392" y="220827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279392" y="2208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20116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680960" y="2011680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F4F6FC"/>
          </a:solidFill>
          <a:ln/>
        </p:spPr>
      </p:sp>
      <p:sp>
        <p:nvSpPr>
          <p:cNvPr id="14" name="Shape 12"/>
          <p:cNvSpPr/>
          <p:nvPr/>
        </p:nvSpPr>
        <p:spPr>
          <a:xfrm>
            <a:off x="7845552" y="220827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845552" y="2208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20116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data types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2971800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F4F6FC"/>
          </a:solidFill>
          <a:ln/>
        </p:spPr>
      </p:sp>
      <p:sp>
        <p:nvSpPr>
          <p:cNvPr id="18" name="Shape 16"/>
          <p:cNvSpPr/>
          <p:nvPr/>
        </p:nvSpPr>
        <p:spPr>
          <a:xfrm>
            <a:off x="713232" y="31683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3232" y="31683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29718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Unnecessary spaces in sector names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114800" y="2971800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F4F6FC"/>
          </a:solidFill>
          <a:ln/>
        </p:spPr>
      </p:sp>
      <p:sp>
        <p:nvSpPr>
          <p:cNvPr id="22" name="Shape 20"/>
          <p:cNvSpPr/>
          <p:nvPr/>
        </p:nvSpPr>
        <p:spPr>
          <a:xfrm>
            <a:off x="4279392" y="31683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279392" y="31683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800600" y="29718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values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680960" y="2971800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F4F6FC"/>
          </a:solidFill>
          <a:ln/>
        </p:spPr>
      </p:sp>
      <p:sp>
        <p:nvSpPr>
          <p:cNvPr id="26" name="Shape 24"/>
          <p:cNvSpPr/>
          <p:nvPr/>
        </p:nvSpPr>
        <p:spPr>
          <a:xfrm>
            <a:off x="7845552" y="31683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845552" y="31683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8366760" y="29718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consistency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4160520"/>
            <a:ext cx="11064240" cy="1783080"/>
          </a:xfrm>
          <a:prstGeom prst="roundRect">
            <a:avLst>
              <a:gd name="adj" fmla="val 5128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14400" y="443484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Financial-year columns were converted to numeric values, then the dataset was reshaped from wide format into long format — chosen because it is far better suited to analytical modelling and Power BI visualization.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FDI Analytics &amp; Investment DSS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1234440"/>
            <a:ext cx="12191695" cy="18288"/>
          </a:xfrm>
          <a:prstGeom prst="rect">
            <a:avLst/>
          </a:prstGeom>
          <a:solidFill>
            <a:srgbClr val="E4E7F5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00200"/>
            <a:ext cx="11064240" cy="758952"/>
          </a:xfrm>
          <a:prstGeom prst="roundRect">
            <a:avLst>
              <a:gd name="adj" fmla="val 9639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5107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510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65506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Year-wise FDI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165506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FDI calculated for every financial year to reveal overall investment trends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96312"/>
            <a:ext cx="11064240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6471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6471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55117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Sector-wise FDI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2551176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and average FDI calculated for each of the 63 sectors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392424"/>
            <a:ext cx="11064240" cy="758952"/>
          </a:xfrm>
          <a:prstGeom prst="roundRect">
            <a:avLst>
              <a:gd name="adj" fmla="val 9639"/>
            </a:avLst>
          </a:prstGeom>
          <a:solidFill>
            <a:srgbClr val="F4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5433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5433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44728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FDI contribution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344728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sector's share of overall FDI was quantified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288536"/>
            <a:ext cx="11064240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4394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4394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4343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FDI growth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389120" y="43434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percentage change highlights strong growth or decline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184648"/>
            <a:ext cx="11064240" cy="758952"/>
          </a:xfrm>
          <a:prstGeom prst="roundRect">
            <a:avLst>
              <a:gd name="adj" fmla="val 9639"/>
            </a:avLst>
          </a:prstGeom>
          <a:solidFill>
            <a:srgbClr val="F4F6FC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533552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53355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463040" y="523951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389120" y="523951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 used to measure variation in sector-level FDI over time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FDI Analytics &amp; Investment DSS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Opportunity Score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project-developed analytical screening tool — not an official investment rating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611880" cy="2194560"/>
          </a:xfrm>
          <a:prstGeom prst="roundRect">
            <a:avLst>
              <a:gd name="adj" fmla="val 5000"/>
            </a:avLst>
          </a:prstGeom>
          <a:solidFill>
            <a:srgbClr val="263373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94560"/>
            <a:ext cx="548640" cy="54864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FDI performance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scale of investment received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160520" y="265176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526280" y="1920240"/>
            <a:ext cx="3611880" cy="2194560"/>
          </a:xfrm>
          <a:prstGeom prst="roundRect">
            <a:avLst>
              <a:gd name="adj" fmla="val 5000"/>
            </a:avLst>
          </a:prstGeom>
          <a:solidFill>
            <a:srgbClr val="263373"/>
          </a:solidFill>
          <a:ln/>
        </p:spPr>
      </p:sp>
      <p:sp>
        <p:nvSpPr>
          <p:cNvPr id="11" name="Shape 9"/>
          <p:cNvSpPr/>
          <p:nvPr/>
        </p:nvSpPr>
        <p:spPr>
          <a:xfrm>
            <a:off x="4800600" y="2194560"/>
            <a:ext cx="548640" cy="54864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006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2880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FDI performance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34290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annual investment level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265176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8503920" y="1920240"/>
            <a:ext cx="3611880" cy="2194560"/>
          </a:xfrm>
          <a:prstGeom prst="roundRect">
            <a:avLst>
              <a:gd name="adj" fmla="val 5000"/>
            </a:avLst>
          </a:prstGeom>
          <a:solidFill>
            <a:srgbClr val="263373"/>
          </a:solidFill>
          <a:ln/>
        </p:spPr>
      </p:sp>
      <p:sp>
        <p:nvSpPr>
          <p:cNvPr id="17" name="Shape 15"/>
          <p:cNvSpPr/>
          <p:nvPr/>
        </p:nvSpPr>
        <p:spPr>
          <a:xfrm>
            <a:off x="8778240" y="2194560"/>
            <a:ext cx="548640" cy="54864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77824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8778240" y="2880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stability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8778240" y="34290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of investment over time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434840"/>
            <a:ext cx="11064240" cy="1554480"/>
          </a:xfrm>
          <a:prstGeom prst="roundRect">
            <a:avLst>
              <a:gd name="adj" fmla="val 7059"/>
            </a:avLst>
          </a:prstGeom>
          <a:solidFill>
            <a:srgbClr val="C9A24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400" y="466344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lets sectors be compared across multiple performance dimensions — instead of relying on total FDI alone.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FDI Analytics &amp; Investment DSS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1234440"/>
            <a:ext cx="12191695" cy="18288"/>
          </a:xfrm>
          <a:prstGeom prst="rect">
            <a:avLst/>
          </a:prstGeom>
          <a:solidFill>
            <a:srgbClr val="E4E7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view of the analysis, with a second page for investment performance and sector comparison.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4F6FC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2128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▤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889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FDI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46704" y="201168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4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3547872" y="22128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47872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▤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29584" y="27889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FDI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44768" y="201168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4F6FC"/>
          </a:solidFill>
          <a:ln/>
        </p:spPr>
      </p:sp>
      <p:sp>
        <p:nvSpPr>
          <p:cNvPr id="14" name="Shape 12"/>
          <p:cNvSpPr/>
          <p:nvPr/>
        </p:nvSpPr>
        <p:spPr>
          <a:xfrm>
            <a:off x="6345936" y="22128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45936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▤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327648" y="27889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sectors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942832" y="201168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4F6FC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0" y="22128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▤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125712" y="27889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FDI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79476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4F6FC"/>
          </a:solidFill>
          <a:ln/>
        </p:spPr>
      </p:sp>
      <p:sp>
        <p:nvSpPr>
          <p:cNvPr id="22" name="Shape 20"/>
          <p:cNvSpPr/>
          <p:nvPr/>
        </p:nvSpPr>
        <p:spPr>
          <a:xfrm>
            <a:off x="749808" y="39959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9808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▤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4572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FDI trend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346704" y="379476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4F6FC"/>
          </a:solidFill>
          <a:ln/>
        </p:spPr>
      </p:sp>
      <p:sp>
        <p:nvSpPr>
          <p:cNvPr id="26" name="Shape 24"/>
          <p:cNvSpPr/>
          <p:nvPr/>
        </p:nvSpPr>
        <p:spPr>
          <a:xfrm>
            <a:off x="3547872" y="39959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547872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▤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3529584" y="4572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sectors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144768" y="379476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4F6FC"/>
          </a:solidFill>
          <a:ln/>
        </p:spPr>
      </p:sp>
      <p:sp>
        <p:nvSpPr>
          <p:cNvPr id="30" name="Shape 28"/>
          <p:cNvSpPr/>
          <p:nvPr/>
        </p:nvSpPr>
        <p:spPr>
          <a:xfrm>
            <a:off x="6345936" y="39959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345936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▤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6327648" y="4572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Sector-wise FDI distribution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942832" y="379476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4F6FC"/>
          </a:solidFill>
          <a:ln/>
        </p:spPr>
      </p:sp>
      <p:sp>
        <p:nvSpPr>
          <p:cNvPr id="34" name="Shape 32"/>
          <p:cNvSpPr/>
          <p:nvPr/>
        </p:nvSpPr>
        <p:spPr>
          <a:xfrm>
            <a:off x="9144000" y="39959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144000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▤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9125712" y="4572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Financial-year &amp; sector filters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FDI Analytics &amp; Investment DSS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&amp; Limitations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1188720"/>
            <a:ext cx="12191695" cy="18288"/>
          </a:xfrm>
          <a:prstGeom prst="rect">
            <a:avLst/>
          </a:prstGeom>
          <a:solidFill>
            <a:srgbClr val="E4E7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58521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promotion efforts on consistently high-performing sectors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highly volatile sectors separately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diversification where investment is concentrated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high-growth periods for policy insight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multi-factor analytics, not total FDI alone, to prioritize sectors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766560" y="1417320"/>
            <a:ext cx="4846320" cy="4709160"/>
          </a:xfrm>
          <a:prstGeom prst="roundRect">
            <a:avLst>
              <a:gd name="adj" fmla="val 233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086600" y="1645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086600" y="2103120"/>
            <a:ext cx="42062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2000–01 to 2016–17 only — does not reflect recent FDI conditions.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external variables: GDP growth, inflation, interest rates, exchange rates, policy and geopolitical factors.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Investment Opportunity Score is an analytical framework for this study, not an official investment recommendation.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FDI Analytics &amp; Investment DSS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26337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822960" cy="4572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9659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turns raw, historical FDI data into a practical decision-support system — combining data cleaning, exploratory analysis, KPI development, sector comparison, growth analysis and visualization.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52044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interactive Power BI dashboard, extended with the Investment Opportunity Score, moves the work from basic reporting toward genuine investment decision support.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5029200"/>
            <a:ext cx="1508760" cy="457200"/>
          </a:xfrm>
          <a:prstGeom prst="roundRect">
            <a:avLst>
              <a:gd name="adj" fmla="val 50000"/>
            </a:avLst>
          </a:prstGeom>
          <a:solidFill>
            <a:srgbClr val="2E3D8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50292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423160" y="5029200"/>
            <a:ext cx="594360" cy="457200"/>
          </a:xfrm>
          <a:prstGeom prst="roundRect">
            <a:avLst>
              <a:gd name="adj" fmla="val 50000"/>
            </a:avLst>
          </a:prstGeom>
          <a:solidFill>
            <a:srgbClr val="2E3D8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423160" y="502920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0" y="5029200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2E3D8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200400" y="50292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Design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17720" y="502920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2E3D8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617720" y="50292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Score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83680" y="502920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2E3D8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83680" y="50292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FDI Analytics &amp; Investment DSS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2026-08-28T19:17:52Z</dcterms:created>
  <dcterms:modified xsi:type="dcterms:W3CDTF">2026-08-28T19:17:52Z</dcterms:modified>
</cp:coreProperties>
</file>